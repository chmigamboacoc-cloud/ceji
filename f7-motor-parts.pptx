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9" r:id="rId5"/>
    <p:sldId id="259" r:id="rId6"/>
    <p:sldId id="270" r:id="rId7"/>
    <p:sldId id="271" r:id="rId8"/>
    <p:sldId id="262" r:id="rId9"/>
  </p:sldIdLst>
  <p:sldSz cx="12193588" cy="68595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6C24"/>
    <a:srgbClr val="D8D4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64" y="-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92A33-B0C2-4488-BE0F-6EE2AF077C9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206D7-70A9-41A6-9857-6C2A9BF7F8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49769" y="6372305"/>
            <a:ext cx="3937360" cy="33415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ctr">
              <a:lnSpc>
                <a:spcPts val="1450"/>
              </a:lnSpc>
              <a:spcBef>
                <a:spcPts val="5250"/>
              </a:spcBef>
            </a:pPr>
            <a:r>
              <a:rPr lang="en-US" sz="1100" b="1" dirty="0">
                <a:solidFill>
                  <a:srgbClr val="275216"/>
                </a:solidFill>
                <a:latin typeface="Arial" panose="020B0604020202020204"/>
              </a:rPr>
              <a:t>PHINMA CAGAYAN DE ORO COLLEGE | COLLEGE OF INFORMATION TECHNOLOGY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77" y="242580"/>
            <a:ext cx="1319945" cy="13140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51610" y="1444625"/>
            <a:ext cx="92900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F7 motor parts receipt</a:t>
            </a:r>
          </a:p>
          <a:p>
            <a:pPr algn="ctr"/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7112" y="3843933"/>
            <a:ext cx="7762673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dirty="0"/>
              <a:t>AYUDTOD, RYAN B.</a:t>
            </a:r>
            <a:br>
              <a:rPr lang="en-US" altLang="en-US" dirty="0"/>
            </a:br>
            <a:r>
              <a:rPr lang="en-US" altLang="en-US" dirty="0"/>
              <a:t>CABEZAS, RUSTY O.</a:t>
            </a:r>
          </a:p>
          <a:p>
            <a:pPr algn="ctr"/>
            <a:r>
              <a:rPr lang="en-US" altLang="en-US" dirty="0"/>
              <a:t>GAMBOA, CHRIS GIAN LEVI </a:t>
            </a:r>
          </a:p>
          <a:p>
            <a:pPr algn="ctr"/>
            <a:r>
              <a:rPr lang="en-US" altLang="en-US" dirty="0"/>
              <a:t>GUMADLAS ,HAROLD </a:t>
            </a:r>
          </a:p>
          <a:p>
            <a:pPr algn="ctr"/>
            <a:r>
              <a:rPr lang="en-US" altLang="en-US" dirty="0"/>
              <a:t>LOQUIAS, SAM MILBY</a:t>
            </a:r>
          </a:p>
          <a:p>
            <a:pPr algn="ctr"/>
            <a:r>
              <a:rPr lang="en-US" altLang="en-US" dirty="0">
                <a:sym typeface="+mn-ea"/>
              </a:rPr>
              <a:t>PELIMIANO, JHON MICHAEL C.</a:t>
            </a:r>
            <a:endParaRPr lang="en-US" altLang="en-US" dirty="0"/>
          </a:p>
          <a:p>
            <a:pPr algn="ctr"/>
            <a:r>
              <a:rPr lang="en-US" altLang="en-US" dirty="0">
                <a:sym typeface="+mn-ea"/>
              </a:rPr>
              <a:t>SALAPANG, MARIEL S.</a:t>
            </a:r>
            <a:endParaRPr lang="en-US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237112" y="3474352"/>
            <a:ext cx="7762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DEVELOPERS/AUTHORS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638996" y="463675"/>
            <a:ext cx="3595431" cy="468857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r">
              <a:spcAft>
                <a:spcPts val="5670"/>
              </a:spcAft>
            </a:pPr>
            <a:r>
              <a:rPr lang="en-US" sz="4600" b="1">
                <a:latin typeface="Arial" panose="020B0604020202020204"/>
              </a:rPr>
              <a:t>The Problem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77" y="242580"/>
            <a:ext cx="1319945" cy="131407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865880" y="2030095"/>
            <a:ext cx="6240145" cy="64198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spcBef>
                <a:spcPts val="5670"/>
              </a:spcBef>
              <a:spcAft>
                <a:spcPts val="630"/>
              </a:spcAft>
            </a:pP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64660" y="1813834"/>
            <a:ext cx="1301260" cy="8183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spcBef>
                <a:spcPts val="5670"/>
              </a:spcBef>
              <a:spcAft>
                <a:spcPts val="630"/>
              </a:spcAft>
            </a:pPr>
            <a:endParaRPr lang="en-US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865880" y="3472180"/>
            <a:ext cx="6722110" cy="64198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spcBef>
                <a:spcPts val="5670"/>
              </a:spcBef>
              <a:spcAft>
                <a:spcPts val="630"/>
              </a:spcAft>
            </a:pP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54124" y="5096066"/>
            <a:ext cx="7316268" cy="64215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spcBef>
                <a:spcPts val="5670"/>
              </a:spcBef>
              <a:spcAft>
                <a:spcPts val="630"/>
              </a:spcAft>
            </a:pPr>
            <a:endParaRPr lang="en-US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64660" y="3145531"/>
            <a:ext cx="1161560" cy="119271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spcBef>
                <a:spcPts val="5670"/>
              </a:spcBef>
              <a:spcAft>
                <a:spcPts val="630"/>
              </a:spcAft>
            </a:pPr>
            <a:endParaRPr lang="en-US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52864" y="4769074"/>
            <a:ext cx="1247172" cy="100422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spcBef>
                <a:spcPts val="5670"/>
              </a:spcBef>
              <a:spcAft>
                <a:spcPts val="630"/>
              </a:spcAft>
            </a:pPr>
            <a:endParaRPr lang="en-US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54339" y="1556658"/>
            <a:ext cx="9503410" cy="40659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ym typeface="+mn-ea"/>
              </a:rPr>
              <a:t>Manual calculation of totals often leads to errors in pricing and quantities, especially during busy transactions. This increases the risk of incorrect receipts and affects the accuracy of sales records.</a:t>
            </a:r>
            <a:endParaRPr lang="en-US" alt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ym typeface="+mn-ea"/>
              </a:rPr>
              <a:t>Writing receipts and computing totals by hand is time-consuming and slows down the transaction process. This results in longer waiting times for customers, particularly during peak hours.</a:t>
            </a:r>
            <a:endParaRPr lang="en-US" alt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ym typeface="+mn-ea"/>
              </a:rPr>
              <a:t>Manual receipts are prone to being lost or misplaced, making it difficult to track past transactions. This limits the ability to review sales records and affects overall business organization.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45554" y="792652"/>
            <a:ext cx="6488873" cy="5906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spcAft>
                <a:spcPts val="3780"/>
              </a:spcAft>
            </a:pPr>
            <a:r>
              <a:rPr lang="en-US" sz="4600" b="1">
                <a:latin typeface="Arial" panose="020B0604020202020204"/>
              </a:rPr>
              <a:t>The Proposed Solution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77" y="242580"/>
            <a:ext cx="1319945" cy="1314078"/>
          </a:xfrm>
          <a:prstGeom prst="rect">
            <a:avLst/>
          </a:prstGeom>
        </p:spPr>
      </p:pic>
      <p:sp>
        <p:nvSpPr>
          <p:cNvPr id="7" name="Rectangle: Rounded Corners 6"/>
          <p:cNvSpPr/>
          <p:nvPr/>
        </p:nvSpPr>
        <p:spPr>
          <a:xfrm>
            <a:off x="-495300" y="2514600"/>
            <a:ext cx="12992100" cy="24765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77190" y="2514600"/>
            <a:ext cx="10065385" cy="2576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800" dirty="0"/>
              <a:t>The proposed system is a console-based receipt application that automates transactions and reduces errors. It improves speed and </a:t>
            </a:r>
            <a:r>
              <a:rPr lang="en-US" altLang="en-US" sz="3200" dirty="0"/>
              <a:t>efficiency </a:t>
            </a:r>
            <a:r>
              <a:rPr lang="en-US" altLang="en-US" sz="2800" dirty="0"/>
              <a:t>in processing sales.</a:t>
            </a:r>
          </a:p>
          <a:p>
            <a:pPr algn="ctr"/>
            <a:endParaRPr lang="en-US" altLang="en-US" sz="2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45554" y="792652"/>
            <a:ext cx="6488873" cy="590604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spcAft>
                <a:spcPts val="3780"/>
              </a:spcAft>
            </a:pPr>
            <a:r>
              <a:rPr lang="en-US" sz="4600" b="1">
                <a:latin typeface="Arial" panose="020B0604020202020204"/>
              </a:rPr>
              <a:t>The Proposed Solution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77" y="242580"/>
            <a:ext cx="1319945" cy="1314078"/>
          </a:xfrm>
          <a:prstGeom prst="rect">
            <a:avLst/>
          </a:prstGeom>
        </p:spPr>
      </p:pic>
      <p:sp>
        <p:nvSpPr>
          <p:cNvPr id="13" name="Rectangle: Rounded Corners 12"/>
          <p:cNvSpPr/>
          <p:nvPr/>
        </p:nvSpPr>
        <p:spPr>
          <a:xfrm>
            <a:off x="-663947" y="3596769"/>
            <a:ext cx="3601518" cy="64215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50545" y="3687013"/>
            <a:ext cx="5574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Mention 3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4C859E-EEE4-77D9-978C-050D47D1854B}"/>
              </a:ext>
            </a:extLst>
          </p:cNvPr>
          <p:cNvSpPr txBox="1"/>
          <p:nvPr/>
        </p:nvSpPr>
        <p:spPr>
          <a:xfrm>
            <a:off x="4239415" y="1717243"/>
            <a:ext cx="3381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1.  </a:t>
            </a:r>
            <a:r>
              <a:rPr lang="en-US" sz="2400" dirty="0"/>
              <a:t>Allows Users to input, login, calculate and editing items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CB13FB-F36A-C7CF-9F49-BD8BB6E4E6F8}"/>
              </a:ext>
            </a:extLst>
          </p:cNvPr>
          <p:cNvSpPr txBox="1"/>
          <p:nvPr/>
        </p:nvSpPr>
        <p:spPr>
          <a:xfrm>
            <a:off x="7518890" y="3548513"/>
            <a:ext cx="4178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2. </a:t>
            </a:r>
            <a:r>
              <a:rPr lang="en-US" sz="2400" dirty="0"/>
              <a:t>Supports payment processing and automatic receipt generation.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212E70-A47D-3B16-E1AD-20310D4016D8}"/>
              </a:ext>
            </a:extLst>
          </p:cNvPr>
          <p:cNvSpPr txBox="1"/>
          <p:nvPr/>
        </p:nvSpPr>
        <p:spPr>
          <a:xfrm>
            <a:off x="4239415" y="5215520"/>
            <a:ext cx="4292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3. </a:t>
            </a:r>
            <a:r>
              <a:rPr lang="en-US" sz="2400" dirty="0"/>
              <a:t>Enables viewing of transaction records during system runtime.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2546" y="792652"/>
            <a:ext cx="5152242" cy="598375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r">
              <a:spcAft>
                <a:spcPts val="3360"/>
              </a:spcAft>
            </a:pPr>
            <a:r>
              <a:rPr lang="en-US" sz="4600" b="1">
                <a:latin typeface="Arial" panose="020B0604020202020204"/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8565" y="2571084"/>
            <a:ext cx="9866223" cy="70976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ct val="150000"/>
              </a:lnSpc>
              <a:spcBef>
                <a:spcPts val="3360"/>
              </a:spcBef>
              <a:spcAft>
                <a:spcPts val="5670"/>
              </a:spcAft>
            </a:pPr>
            <a:r>
              <a:rPr lang="en-US" sz="2700" b="1" dirty="0">
                <a:latin typeface="Arial" panose="020B0604020202020204"/>
              </a:rPr>
              <a:t>General Objective: </a:t>
            </a:r>
            <a:r>
              <a:rPr lang="en-US" altLang="en-US" sz="3200" dirty="0">
                <a:sym typeface="+mn-ea"/>
              </a:rPr>
              <a:t>The goal of the project is to develop a system that automates transactions. It aims to reduce human errors that commonly occur in manual processes. Additionally, the system is designed to improve overall efficiency in business operations.</a:t>
            </a:r>
            <a:endParaRPr lang="en-US" altLang="en-US" sz="3200" dirty="0">
              <a:latin typeface="Arial" panose="020B060402020202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77" y="242580"/>
            <a:ext cx="1319945" cy="131407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92546" y="792652"/>
            <a:ext cx="5152242" cy="598375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r">
              <a:spcAft>
                <a:spcPts val="3360"/>
              </a:spcAft>
            </a:pPr>
            <a:r>
              <a:rPr lang="en-US" sz="4600" b="1">
                <a:latin typeface="Arial" panose="020B0604020202020204"/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96649" y="2345725"/>
            <a:ext cx="10234524" cy="216813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spcBef>
                <a:spcPts val="5670"/>
              </a:spcBef>
            </a:pPr>
            <a:r>
              <a:rPr lang="en-US" sz="2800" b="1" i="1" dirty="0">
                <a:latin typeface="Arial" panose="020B0604020202020204"/>
              </a:rPr>
              <a:t>Specific Objectives:</a:t>
            </a:r>
          </a:p>
          <a:p>
            <a:pPr indent="0"/>
            <a:r>
              <a:rPr lang="en-US" sz="2800" b="1" i="1" dirty="0">
                <a:latin typeface="Arial" panose="020B0604020202020204"/>
              </a:rPr>
              <a:t>1</a:t>
            </a:r>
            <a:r>
              <a:rPr lang="en-US" sz="3600" i="1" dirty="0">
                <a:latin typeface="Arial" panose="020B0604020202020204"/>
              </a:rPr>
              <a:t>.</a:t>
            </a:r>
            <a:r>
              <a:rPr lang="en-US" sz="3600" dirty="0"/>
              <a:t> </a:t>
            </a:r>
            <a:r>
              <a:rPr lang="en-US" altLang="en-US" sz="2800" dirty="0">
                <a:latin typeface="Arial" panose="020B0604020202020204"/>
              </a:rPr>
              <a:t>The system provides a login feature, cart management, and accurate calculations to ensure smooth and error-free transactions.</a:t>
            </a:r>
          </a:p>
          <a:p>
            <a:pPr indent="0"/>
            <a:r>
              <a:rPr lang="en-US" altLang="en-US" sz="2800" dirty="0">
                <a:latin typeface="Arial" panose="020B0604020202020204"/>
              </a:rPr>
              <a:t>2. It enables efficient payment processing and automatically generates receipts, making transactions faster and more reliable.</a:t>
            </a:r>
          </a:p>
          <a:p>
            <a:pPr indent="0"/>
            <a:r>
              <a:rPr lang="en-US" altLang="en-US" sz="2800" dirty="0">
                <a:latin typeface="Arial" panose="020B0604020202020204"/>
              </a:rPr>
              <a:t>3. It allows users to view transaction records easily, helping improve organization and tracking of sales activities.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77" y="242580"/>
            <a:ext cx="1319945" cy="131407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34277" y="429847"/>
            <a:ext cx="8686800" cy="1126811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r">
              <a:spcAft>
                <a:spcPts val="1050"/>
              </a:spcAft>
            </a:pPr>
            <a:r>
              <a:rPr lang="en-US" sz="4600" b="1" dirty="0">
                <a:latin typeface="Arial" panose="020B0604020202020204"/>
              </a:rPr>
              <a:t>Development Tools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77" y="242580"/>
            <a:ext cx="1319945" cy="1314078"/>
          </a:xfrm>
          <a:prstGeom prst="rect">
            <a:avLst/>
          </a:prstGeom>
        </p:spPr>
      </p:pic>
      <p:sp>
        <p:nvSpPr>
          <p:cNvPr id="17" name="Rectangle: Rounded Corners 16"/>
          <p:cNvSpPr/>
          <p:nvPr/>
        </p:nvSpPr>
        <p:spPr>
          <a:xfrm>
            <a:off x="-647295" y="1999445"/>
            <a:ext cx="3601518" cy="64215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68753" y="2154615"/>
            <a:ext cx="1913732" cy="49688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2590"/>
              </a:lnSpc>
              <a:spcBef>
                <a:spcPts val="7140"/>
              </a:spcBef>
            </a:pPr>
            <a:r>
              <a:rPr lang="en-US" sz="2400" b="1" spc="-50" dirty="0">
                <a:latin typeface="Arial" panose="020B0604020202020204"/>
              </a:rPr>
              <a:t>Tech Stack:</a:t>
            </a:r>
            <a:endParaRPr lang="en-US" sz="2400" dirty="0">
              <a:latin typeface="Arial" panose="020B060402020202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316" t="10852" r="28407" b="8531"/>
          <a:stretch>
            <a:fillRect/>
          </a:stretch>
        </p:blipFill>
        <p:spPr>
          <a:xfrm>
            <a:off x="3493969" y="3307973"/>
            <a:ext cx="2503587" cy="2281188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  <p:sp>
        <p:nvSpPr>
          <p:cNvPr id="11" name="Rectangle 10"/>
          <p:cNvSpPr/>
          <p:nvPr/>
        </p:nvSpPr>
        <p:spPr>
          <a:xfrm>
            <a:off x="3788897" y="2754168"/>
            <a:ext cx="1913732" cy="49688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2590"/>
              </a:lnSpc>
              <a:spcBef>
                <a:spcPts val="7140"/>
              </a:spcBef>
            </a:pPr>
            <a:r>
              <a:rPr lang="en-US" sz="2400" b="1" spc="-50" dirty="0" err="1">
                <a:latin typeface="Arial" panose="020B0604020202020204"/>
              </a:rPr>
              <a:t>Netbeans</a:t>
            </a:r>
            <a:r>
              <a:rPr lang="en-US" sz="2400" b="1" spc="-50" dirty="0">
                <a:latin typeface="Arial" panose="020B0604020202020204"/>
              </a:rPr>
              <a:t> IDE</a:t>
            </a:r>
            <a:endParaRPr lang="en-US" sz="2400" dirty="0">
              <a:latin typeface="Arial" panose="020B0604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546207" y="2745885"/>
            <a:ext cx="1343392" cy="496889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2590"/>
              </a:lnSpc>
              <a:spcBef>
                <a:spcPts val="7140"/>
              </a:spcBef>
            </a:pPr>
            <a:r>
              <a:rPr lang="en-US" sz="2400" b="1" spc="-50" dirty="0">
                <a:latin typeface="Arial" panose="020B0604020202020204"/>
              </a:rPr>
              <a:t>VS CODE</a:t>
            </a:r>
            <a:endParaRPr lang="en-US" sz="2400" dirty="0">
              <a:latin typeface="Arial" panose="020B0604020202020204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F1F357-31D0-95B8-4C64-0FCFB21AA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856" y="3242774"/>
            <a:ext cx="2565743" cy="2565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89955" y="818556"/>
            <a:ext cx="5154833" cy="442953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r">
              <a:spcAft>
                <a:spcPts val="3780"/>
              </a:spcAft>
            </a:pPr>
            <a:r>
              <a:rPr lang="en-US" sz="4600" b="1">
                <a:latin typeface="Arial" panose="020B0604020202020204"/>
              </a:rPr>
              <a:t>Core Transactions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451" y="2634946"/>
            <a:ext cx="10766686" cy="2072295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330200">
              <a:lnSpc>
                <a:spcPts val="3345"/>
              </a:lnSpc>
              <a:spcBef>
                <a:spcPts val="3780"/>
              </a:spcBef>
            </a:pPr>
            <a:r>
              <a:rPr lang="en-US" sz="2800" i="1" dirty="0">
                <a:latin typeface="Arial" panose="020B0604020202020204"/>
              </a:rPr>
              <a:t>The </a:t>
            </a:r>
            <a:r>
              <a:rPr lang="en-US" sz="2800" b="1" i="1" dirty="0">
                <a:latin typeface="Arial" panose="020B0604020202020204"/>
              </a:rPr>
              <a:t>core transactions of the system include: </a:t>
            </a:r>
            <a:endParaRPr lang="en-US" sz="2700" b="1" i="1" dirty="0">
              <a:latin typeface="Arial" panose="020B0604020202020204"/>
            </a:endParaRPr>
          </a:p>
          <a:p>
            <a:pPr marL="457200" indent="-457200" algn="just">
              <a:lnSpc>
                <a:spcPts val="3345"/>
              </a:lnSpc>
              <a:spcBef>
                <a:spcPts val="3780"/>
              </a:spcBef>
              <a:buFont typeface="Arial" panose="020B0604020202020204" pitchFamily="34" charset="0"/>
              <a:buChar char="•"/>
            </a:pPr>
            <a:r>
              <a:rPr lang="en-US" sz="3600" dirty="0"/>
              <a:t>Login Authentication, Product Selection, Cart Management, Payment Processing, Receipt Generation, and Transaction Viewing</a:t>
            </a:r>
            <a:endParaRPr lang="en-US" altLang="en-US" sz="3600" dirty="0">
              <a:latin typeface="Arial" panose="020B060402020202020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77" y="242580"/>
            <a:ext cx="1319945" cy="131407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364</Words>
  <Application>Microsoft Office PowerPoint</Application>
  <PresentationFormat>Custom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powerpoint template.pptx</dc:title>
  <dc:creator>RONEIL YANSON</dc:creator>
  <cp:lastModifiedBy>rusty</cp:lastModifiedBy>
  <cp:revision>11</cp:revision>
  <dcterms:created xsi:type="dcterms:W3CDTF">2026-03-31T06:54:00Z</dcterms:created>
  <dcterms:modified xsi:type="dcterms:W3CDTF">2026-04-09T23:42:43Z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1C359E99699A4B4D95D56133FF10DC8D_13</vt:lpwstr>
  </property>
</Properties>
</file>